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67" r:id="rId7"/>
    <p:sldId id="261" r:id="rId8"/>
    <p:sldId id="260" r:id="rId9"/>
    <p:sldId id="264" r:id="rId10"/>
    <p:sldId id="263" r:id="rId11"/>
    <p:sldId id="281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189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5740" autoAdjust="0"/>
  </p:normalViewPr>
  <p:slideViewPr>
    <p:cSldViewPr snapToGrid="0">
      <p:cViewPr varScale="1">
        <p:scale>
          <a:sx n="64" d="100"/>
          <a:sy n="64" d="100"/>
        </p:scale>
        <p:origin x="252" y="72"/>
      </p:cViewPr>
      <p:guideLst/>
    </p:cSldViewPr>
  </p:slideViewPr>
  <p:outlineViewPr>
    <p:cViewPr>
      <p:scale>
        <a:sx n="33" d="100"/>
        <a:sy n="33" d="100"/>
      </p:scale>
      <p:origin x="0" y="-8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yo\AppData\Roaming\Microsoft\Excel\Book1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yo\AppData\Roaming\Microsoft\Excel\Book1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yo\AppData\Roaming\Microsoft\Excel\Book1%20(version%201)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yo\AppData\Roaming\Microsoft\Excel\Book1%20(version%201).xlsb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[Book1 (version 1).xlsb]Age Group!Age Group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Average</a:t>
            </a:r>
            <a:r>
              <a:rPr lang="en-GB" baseline="0"/>
              <a:t> Amount Purchased By Age Group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'Age Group'!$B$3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'Age Group'!$A$4:$A$9</c:f>
              <c:strCache>
                <c:ptCount val="5"/>
                <c:pt idx="0">
                  <c:v>18-25</c:v>
                </c:pt>
                <c:pt idx="1">
                  <c:v>25-35</c:v>
                </c:pt>
                <c:pt idx="2">
                  <c:v>35-50</c:v>
                </c:pt>
                <c:pt idx="3">
                  <c:v>50-65</c:v>
                </c:pt>
                <c:pt idx="4">
                  <c:v>65+</c:v>
                </c:pt>
              </c:strCache>
            </c:strRef>
          </c:cat>
          <c:val>
            <c:numRef>
              <c:f>'Age Group'!$B$4:$B$9</c:f>
              <c:numCache>
                <c:formatCode>0</c:formatCode>
                <c:ptCount val="5"/>
                <c:pt idx="0">
                  <c:v>60.64798598949212</c:v>
                </c:pt>
                <c:pt idx="1">
                  <c:v>59.760107816711589</c:v>
                </c:pt>
                <c:pt idx="2">
                  <c:v>59.072007200720073</c:v>
                </c:pt>
                <c:pt idx="3">
                  <c:v>60.281891168599465</c:v>
                </c:pt>
                <c:pt idx="4">
                  <c:v>58.884507042253524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C8-4B27-9E2E-5B802772153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56772800"/>
        <c:axId val="756782880"/>
      </c:barChart>
      <c:catAx>
        <c:axId val="756772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Age</a:t>
                </a:r>
                <a:r>
                  <a:rPr lang="en-GB" baseline="0"/>
                  <a:t> Group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56782880"/>
        <c:crosses val="autoZero"/>
        <c:auto val="1"/>
        <c:lblAlgn val="ctr"/>
        <c:lblOffset val="100"/>
        <c:noMultiLvlLbl val="0"/>
      </c:catAx>
      <c:valAx>
        <c:axId val="756782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lg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Average</a:t>
                </a:r>
                <a:r>
                  <a:rPr lang="en-GB" baseline="0"/>
                  <a:t> Amount(USD)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56772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2"/>
    </a:solidFill>
    <a:ln w="9525" cap="flat" cmpd="sng" algn="ctr">
      <a:solidFill>
        <a:schemeClr val="bg1">
          <a:lumMod val="75000"/>
        </a:schemeClr>
      </a:solidFill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 (version 1).xlsb]Suscribe or not!Age Group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baseline="0"/>
              <a:t>Average Purchase: Subscribers vs Non-Subscribers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'Suscribe or not'!$B$3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'Suscribe or not'!$A$4:$A$6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'Suscribe or not'!$B$4:$B$6</c:f>
              <c:numCache>
                <c:formatCode>0</c:formatCode>
                <c:ptCount val="2"/>
                <c:pt idx="0">
                  <c:v>59.865121180189675</c:v>
                </c:pt>
                <c:pt idx="1">
                  <c:v>59.491927825261158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B5-42FB-9632-FAFE40E8F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8086527"/>
        <c:axId val="1318077407"/>
      </c:barChart>
      <c:catAx>
        <c:axId val="13180865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Status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18077407"/>
        <c:crosses val="autoZero"/>
        <c:auto val="1"/>
        <c:lblAlgn val="ctr"/>
        <c:lblOffset val="100"/>
        <c:noMultiLvlLbl val="0"/>
      </c:catAx>
      <c:valAx>
        <c:axId val="1318077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Average</a:t>
                </a:r>
                <a:r>
                  <a:rPr lang="en-GB" baseline="0"/>
                  <a:t> Amount(USD)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18086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 w="9525" cap="flat" cmpd="sng" algn="ctr">
      <a:solidFill>
        <a:schemeClr val="bg1">
          <a:lumMod val="75000"/>
        </a:schemeClr>
      </a:solidFill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 (version 1).xlsb]categories!Age Group</c:name>
    <c:fmtId val="6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Top-Selling Product Categories</a:t>
            </a:r>
            <a:endParaRPr lang="en-US"/>
          </a:p>
        </c:rich>
      </c:tx>
      <c:layout>
        <c:manualLayout>
          <c:xMode val="edge"/>
          <c:yMode val="edge"/>
          <c:x val="0.21058333333333334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categories!$B$3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categories!$A$4:$A$8</c:f>
              <c:strCache>
                <c:ptCount val="4"/>
                <c:pt idx="0">
                  <c:v>Accessories</c:v>
                </c:pt>
                <c:pt idx="1">
                  <c:v>Clothing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categories!$B$4:$B$8</c:f>
              <c:numCache>
                <c:formatCode>0</c:formatCode>
                <c:ptCount val="4"/>
                <c:pt idx="0">
                  <c:v>74200</c:v>
                </c:pt>
                <c:pt idx="1">
                  <c:v>104264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79-4E04-8C43-31C568359C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18096607"/>
        <c:axId val="1318042847"/>
      </c:barChart>
      <c:catAx>
        <c:axId val="13180966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Categories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18042847"/>
        <c:crosses val="autoZero"/>
        <c:auto val="1"/>
        <c:lblAlgn val="ctr"/>
        <c:lblOffset val="100"/>
        <c:noMultiLvlLbl val="0"/>
      </c:catAx>
      <c:valAx>
        <c:axId val="13180428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Total Amount(USD)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18096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 (version 1).xlsb]Discount!Age Group</c:name>
    <c:fmtId val="4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baseline="0"/>
              <a:t>Impact of Discounts &amp; Promo Codes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Discount!$B$3:$B$5</c:f>
              <c:strCache>
                <c:ptCount val="1"/>
                <c:pt idx="0">
                  <c:v>No - 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Discount!$A$6:$A$11</c:f>
              <c:strCache>
                <c:ptCount val="5"/>
                <c:pt idx="0">
                  <c:v>18-25</c:v>
                </c:pt>
                <c:pt idx="1">
                  <c:v>25-35</c:v>
                </c:pt>
                <c:pt idx="2">
                  <c:v>35-50</c:v>
                </c:pt>
                <c:pt idx="3">
                  <c:v>50-65</c:v>
                </c:pt>
                <c:pt idx="4">
                  <c:v>65+</c:v>
                </c:pt>
              </c:strCache>
            </c:strRef>
          </c:cat>
          <c:val>
            <c:numRef>
              <c:f>Discount!$B$6:$B$11</c:f>
              <c:numCache>
                <c:formatCode>0</c:formatCode>
                <c:ptCount val="5"/>
                <c:pt idx="0">
                  <c:v>61.351851851851855</c:v>
                </c:pt>
                <c:pt idx="1">
                  <c:v>60.739856801909305</c:v>
                </c:pt>
                <c:pt idx="2">
                  <c:v>58.732612055641425</c:v>
                </c:pt>
                <c:pt idx="3">
                  <c:v>60.7007874015748</c:v>
                </c:pt>
                <c:pt idx="4">
                  <c:v>59.580808080808083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34-467F-8E9B-B8C67B9AEA04}"/>
            </c:ext>
          </c:extLst>
        </c:ser>
        <c:ser>
          <c:idx val="1"/>
          <c:order val="1"/>
          <c:tx>
            <c:strRef>
              <c:f>Discount!$C$3:$C$5</c:f>
              <c:strCache>
                <c:ptCount val="1"/>
                <c:pt idx="0">
                  <c:v>Yes - 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Discount!$A$6:$A$11</c:f>
              <c:strCache>
                <c:ptCount val="5"/>
                <c:pt idx="0">
                  <c:v>18-25</c:v>
                </c:pt>
                <c:pt idx="1">
                  <c:v>25-35</c:v>
                </c:pt>
                <c:pt idx="2">
                  <c:v>35-50</c:v>
                </c:pt>
                <c:pt idx="3">
                  <c:v>50-65</c:v>
                </c:pt>
                <c:pt idx="4">
                  <c:v>65+</c:v>
                </c:pt>
              </c:strCache>
            </c:strRef>
          </c:cat>
          <c:val>
            <c:numRef>
              <c:f>Discount!$C$6:$C$11</c:f>
              <c:numCache>
                <c:formatCode>0</c:formatCode>
                <c:ptCount val="5"/>
                <c:pt idx="0">
                  <c:v>59.724696356275302</c:v>
                </c:pt>
                <c:pt idx="1">
                  <c:v>58.489164086687303</c:v>
                </c:pt>
                <c:pt idx="2">
                  <c:v>59.545258620689658</c:v>
                </c:pt>
                <c:pt idx="3">
                  <c:v>59.73456790123457</c:v>
                </c:pt>
                <c:pt idx="4">
                  <c:v>58.00636942675159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34-467F-8E9B-B8C67B9AEA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8043807"/>
        <c:axId val="1318053407"/>
      </c:barChart>
      <c:catAx>
        <c:axId val="13180438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Age</a:t>
                </a:r>
                <a:r>
                  <a:rPr lang="en-GB" baseline="0"/>
                  <a:t> Group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18053407"/>
        <c:crosses val="autoZero"/>
        <c:auto val="1"/>
        <c:lblAlgn val="ctr"/>
        <c:lblOffset val="100"/>
        <c:noMultiLvlLbl val="0"/>
      </c:catAx>
      <c:valAx>
        <c:axId val="1318053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 Average</a:t>
                </a:r>
                <a:r>
                  <a:rPr lang="en-GB" baseline="0"/>
                  <a:t> Amount(USD)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318043807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FCD50D-240B-4202-BA15-9436303309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6A40-88CC-4CF8-A82C-0522A84173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78CE2-C833-4BFB-B646-A41BF50DD3DE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1F718-5D0C-484C-9E94-4002D1F60A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6DE25-1D25-4297-ACEE-43B0A6165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06342-55CD-4F55-9921-27DD6E1BAC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51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5D0CA-A9EA-4786-92CB-50D9D9B29FEF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86772-94DE-41DD-845F-738AE05EE9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42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8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165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BE5F371-5525-435D-A976-3813CDC7E2F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32B57-459F-4669-8A88-96A6A1E147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25" y="0"/>
            <a:ext cx="5758075" cy="5391215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tIns="5394960" anchor="b"/>
          <a:lstStyle>
            <a:lvl1pPr>
              <a:lnSpc>
                <a:spcPct val="80000"/>
              </a:lnSpc>
              <a:defRPr sz="6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4472392-D2F6-424E-BA23-46AF83099F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3926" y="5391215"/>
            <a:ext cx="5758074" cy="1466785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2000" i="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49209FF-BA53-4DEA-823A-B6660FF16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434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168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CBA8-B670-42D7-A41A-9EEF34539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9826" y="1209670"/>
            <a:ext cx="5135764" cy="495300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74CE58-DADF-49AA-ACA2-255E4E0CEF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08065E7-24BC-4E6E-B716-10D3EFBE36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9826" y="1789866"/>
            <a:ext cx="5135764" cy="357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buNone/>
              <a:defRPr sz="18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810BB-89E8-42E9-835D-08D37EEA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8AC4F-C5EE-4991-A325-A93AAFB4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3368" y="6356350"/>
            <a:ext cx="2971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7D8A0-22D0-4A0F-9295-1F6FA4AA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9528" y="6356350"/>
            <a:ext cx="17560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194647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B531-EB7A-4EBE-8F44-25261902B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63" y="986268"/>
            <a:ext cx="2893813" cy="1034385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46163CD-B898-4FBF-A465-61F3E3E870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41407" y="699461"/>
            <a:ext cx="6547507" cy="15520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661CDF2-6D55-4CB0-89A5-D6E2B7AA89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993571"/>
            <a:ext cx="12192000" cy="38644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25E9E-378B-4941-AEA1-E4C3CD15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0"/>
            <a:ext cx="3497062" cy="501650"/>
          </a:xfrm>
          <a:solidFill>
            <a:schemeClr val="accent6">
              <a:alpha val="7000"/>
            </a:schemeClr>
          </a:solidFill>
        </p:spPr>
        <p:txBody>
          <a:bodyPr lIns="841248" bIns="13716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2E291-B9AF-4251-9B9C-43126377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7062" y="6356350"/>
            <a:ext cx="5197878" cy="501650"/>
          </a:xfrm>
          <a:solidFill>
            <a:schemeClr val="accent6">
              <a:alpha val="7000"/>
            </a:schemeClr>
          </a:solidFill>
        </p:spPr>
        <p:txBody>
          <a:bodyPr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57E80-C904-497A-A70B-BB9ADEB3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4940" y="6356350"/>
            <a:ext cx="3497060" cy="501650"/>
          </a:xfrm>
          <a:solidFill>
            <a:schemeClr val="accent6">
              <a:alpha val="7000"/>
            </a:schemeClr>
          </a:solidFill>
        </p:spPr>
        <p:txBody>
          <a:bodyPr rIns="576072"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83318350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FA64E0E-E550-49C2-B38B-9C648C6A5B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B791D-4947-41E3-B728-76AB29D7C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71176" y="0"/>
            <a:ext cx="4020824" cy="2300397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rIns="822960" anchor="b"/>
          <a:lstStyle>
            <a:lvl1pPr>
              <a:lnSpc>
                <a:spcPct val="80000"/>
              </a:lnSpc>
              <a:defRPr sz="4800" cap="all" spc="2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B94FF5B-17D8-4363-BD43-E7FFC770F6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71176" y="2300396"/>
            <a:ext cx="4020824" cy="4557603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tIns="0" anchor="t"/>
          <a:lstStyle>
            <a:lvl1pPr marL="0" indent="0">
              <a:lnSpc>
                <a:spcPct val="100000"/>
              </a:lnSpc>
              <a:buNone/>
              <a:defRPr sz="2000" i="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8409072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ly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985EDE1-FE1A-4043-AB3E-E13190B78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1503644"/>
            <a:ext cx="12192001" cy="536486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8FCAF0-1279-48CD-BFE0-EFED8A6779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562" y="522081"/>
            <a:ext cx="10515600" cy="495300"/>
          </a:xfrm>
          <a:prstGeom prst="rect">
            <a:avLst/>
          </a:prstGeom>
        </p:spPr>
        <p:txBody>
          <a:bodyPr anchor="ctr"/>
          <a:lstStyle>
            <a:lvl1pPr>
              <a:defRPr sz="320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AAD25-9222-493C-B78E-39CBE372C9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53862" y="2025650"/>
            <a:ext cx="10580888" cy="40052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DEB8E-59E0-4561-A350-0EDC248A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F8B16-6E70-48F1-ABCB-F2148C86D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EE72C9-BAB9-4BA3-B9CD-76AF01FE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32601830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s of Growth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13D239-DB55-46D9-B88F-C809680A2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153398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9D5FC72-7358-4D0F-9641-569FD46E3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193" y="546310"/>
            <a:ext cx="7121174" cy="495301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33C1F73-10F3-4E1E-9979-32DF285843B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47725" y="1528474"/>
            <a:ext cx="6450013" cy="41287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B65BE-7BDE-4397-B2E2-054F84A8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D511C-2385-406C-93EF-6DBAA0E3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52731805-E2BE-413D-92F8-D2E87559B2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398" y="0"/>
            <a:ext cx="403860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D6116-4671-4C7B-A118-E31B1369C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86038365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650337A3-2F47-4D9A-B240-572DD3AE3F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3DDD687-62AC-4FD3-A6C3-9857FD318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70123" cy="4684719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22960" anchor="b"/>
          <a:lstStyle>
            <a:lvl1pPr>
              <a:lnSpc>
                <a:spcPct val="80000"/>
              </a:lnSpc>
              <a:spcBef>
                <a:spcPts val="1000"/>
              </a:spcBef>
              <a:defRPr sz="4000" cap="all" spc="2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2DB0EA3-58EE-48BD-8592-2D27FEC19C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684719"/>
            <a:ext cx="5970123" cy="2173281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22960" tIns="182880" anchor="t"/>
          <a:lstStyle>
            <a:lvl1pPr marL="0" indent="0">
              <a:lnSpc>
                <a:spcPct val="100000"/>
              </a:lnSpc>
              <a:buNone/>
              <a:defRPr sz="2000" i="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3E4EC-869C-4BBF-B0EC-C2DCA314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93A8E-14B8-4534-832A-F3787F73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66EFA-EBB1-46E4-BC21-6BD36CBA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2DC116-1C4B-4BAE-B1C8-8EA04BBB8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0122" y="0"/>
            <a:ext cx="6221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0169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_4-U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aphic 31">
            <a:extLst>
              <a:ext uri="{FF2B5EF4-FFF2-40B4-BE49-F238E27FC236}">
                <a16:creationId xmlns:a16="http://schemas.microsoft.com/office/drawing/2014/main" id="{CF0790E0-1B60-43FC-9885-BE17713C5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" y="0"/>
            <a:ext cx="12203044" cy="6857999"/>
            <a:chOff x="1524000" y="857250"/>
            <a:chExt cx="9143809" cy="5138737"/>
          </a:xfrm>
          <a:solidFill>
            <a:schemeClr val="accent2">
              <a:lumMod val="20000"/>
              <a:lumOff val="80000"/>
              <a:alpha val="10000"/>
            </a:schemeClr>
          </a:solidFill>
        </p:grpSpPr>
        <p:sp>
          <p:nvSpPr>
            <p:cNvPr id="34" name="Graphic 31">
              <a:extLst>
                <a:ext uri="{FF2B5EF4-FFF2-40B4-BE49-F238E27FC236}">
                  <a16:creationId xmlns:a16="http://schemas.microsoft.com/office/drawing/2014/main" id="{34F66DF3-E60A-4AA6-B3DB-F4D6D7BB0CA2}"/>
                </a:ext>
              </a:extLst>
            </p:cNvPr>
            <p:cNvSpPr/>
            <p:nvPr/>
          </p:nvSpPr>
          <p:spPr>
            <a:xfrm>
              <a:off x="1524000" y="857250"/>
              <a:ext cx="2959036" cy="5138737"/>
            </a:xfrm>
            <a:custGeom>
              <a:avLst/>
              <a:gdLst>
                <a:gd name="connsiteX0" fmla="*/ 0 w 2959036"/>
                <a:gd name="connsiteY0" fmla="*/ 0 h 5138737"/>
                <a:gd name="connsiteX1" fmla="*/ 0 w 2959036"/>
                <a:gd name="connsiteY1" fmla="*/ 5138738 h 5138737"/>
                <a:gd name="connsiteX2" fmla="*/ 2959037 w 2959036"/>
                <a:gd name="connsiteY2" fmla="*/ 5138738 h 5138737"/>
                <a:gd name="connsiteX3" fmla="*/ 926306 w 2959036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9036" h="5138737">
                  <a:moveTo>
                    <a:pt x="0" y="0"/>
                  </a:moveTo>
                  <a:lnTo>
                    <a:pt x="0" y="5138738"/>
                  </a:lnTo>
                  <a:lnTo>
                    <a:pt x="2959037" y="5138738"/>
                  </a:lnTo>
                  <a:lnTo>
                    <a:pt x="92630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Graphic 31">
              <a:extLst>
                <a:ext uri="{FF2B5EF4-FFF2-40B4-BE49-F238E27FC236}">
                  <a16:creationId xmlns:a16="http://schemas.microsoft.com/office/drawing/2014/main" id="{EE7F6774-879D-4323-A44D-99E0E5F5A719}"/>
                </a:ext>
              </a:extLst>
            </p:cNvPr>
            <p:cNvSpPr/>
            <p:nvPr/>
          </p:nvSpPr>
          <p:spPr>
            <a:xfrm>
              <a:off x="7712011" y="857250"/>
              <a:ext cx="2955798" cy="5138737"/>
            </a:xfrm>
            <a:custGeom>
              <a:avLst/>
              <a:gdLst>
                <a:gd name="connsiteX0" fmla="*/ 2032731 w 2955798"/>
                <a:gd name="connsiteY0" fmla="*/ 0 h 5138737"/>
                <a:gd name="connsiteX1" fmla="*/ 0 w 2955798"/>
                <a:gd name="connsiteY1" fmla="*/ 5138738 h 5138737"/>
                <a:gd name="connsiteX2" fmla="*/ 2955798 w 2955798"/>
                <a:gd name="connsiteY2" fmla="*/ 5138738 h 5138737"/>
                <a:gd name="connsiteX3" fmla="*/ 2955798 w 2955798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5798" h="5138737">
                  <a:moveTo>
                    <a:pt x="2032731" y="0"/>
                  </a:moveTo>
                  <a:lnTo>
                    <a:pt x="0" y="5138738"/>
                  </a:lnTo>
                  <a:lnTo>
                    <a:pt x="2955798" y="5138738"/>
                  </a:lnTo>
                  <a:lnTo>
                    <a:pt x="295579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30753C-2041-4585-A2AE-13937CA090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862" y="524565"/>
            <a:ext cx="10941728" cy="576447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5EA5C7E-24B9-4B88-95BD-424B41B4894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44172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4C2DF15-CF4F-4138-B50F-1BF33309B4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170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76B399A-F991-43E9-ACD8-BEE6C345D7F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170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1EB9900-27EA-4146-A3BC-990DAA7362E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582316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F295B36C-312A-4F68-8785-926AF39DEC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82314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5A69567D-C005-4D58-8A97-3779831CA0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82314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4FE9303-BBC0-4C8D-B7AB-5CD3E76A981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220462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A8A35E4-E339-4851-8E87-ADD5A47D8B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20460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6C1B6D-3302-4939-ABCB-D64D49E0C0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20460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3BE0235D-B66F-4F0B-A4C1-5F7D63C93E9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58606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DB1DD411-2914-4927-88D8-49C5F77DBF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58604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D913D89D-8800-41B2-9284-538E008D449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58604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B141C-4594-45E3-A576-83731131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24755-F827-42EA-8E6C-044C8D7B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C860E-9305-4F6A-96A9-2F014B27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49376526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_8-U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aphic 31">
            <a:extLst>
              <a:ext uri="{FF2B5EF4-FFF2-40B4-BE49-F238E27FC236}">
                <a16:creationId xmlns:a16="http://schemas.microsoft.com/office/drawing/2014/main" id="{1E04AE1B-EA25-4B01-8936-C5A4E253B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" y="0"/>
            <a:ext cx="12203044" cy="6857999"/>
            <a:chOff x="1524000" y="857250"/>
            <a:chExt cx="9143809" cy="5138737"/>
          </a:xfrm>
          <a:solidFill>
            <a:schemeClr val="accent2">
              <a:lumMod val="20000"/>
              <a:lumOff val="80000"/>
              <a:alpha val="10000"/>
            </a:schemeClr>
          </a:solidFill>
        </p:grpSpPr>
        <p:sp>
          <p:nvSpPr>
            <p:cNvPr id="20" name="Graphic 31">
              <a:extLst>
                <a:ext uri="{FF2B5EF4-FFF2-40B4-BE49-F238E27FC236}">
                  <a16:creationId xmlns:a16="http://schemas.microsoft.com/office/drawing/2014/main" id="{22105375-AFBE-4CFC-B01F-D4EDF8518F26}"/>
                </a:ext>
              </a:extLst>
            </p:cNvPr>
            <p:cNvSpPr/>
            <p:nvPr/>
          </p:nvSpPr>
          <p:spPr>
            <a:xfrm>
              <a:off x="1524000" y="857250"/>
              <a:ext cx="2959036" cy="5138737"/>
            </a:xfrm>
            <a:custGeom>
              <a:avLst/>
              <a:gdLst>
                <a:gd name="connsiteX0" fmla="*/ 0 w 2959036"/>
                <a:gd name="connsiteY0" fmla="*/ 0 h 5138737"/>
                <a:gd name="connsiteX1" fmla="*/ 0 w 2959036"/>
                <a:gd name="connsiteY1" fmla="*/ 5138738 h 5138737"/>
                <a:gd name="connsiteX2" fmla="*/ 2959037 w 2959036"/>
                <a:gd name="connsiteY2" fmla="*/ 5138738 h 5138737"/>
                <a:gd name="connsiteX3" fmla="*/ 926306 w 2959036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9036" h="5138737">
                  <a:moveTo>
                    <a:pt x="0" y="0"/>
                  </a:moveTo>
                  <a:lnTo>
                    <a:pt x="0" y="5138738"/>
                  </a:lnTo>
                  <a:lnTo>
                    <a:pt x="2959037" y="5138738"/>
                  </a:lnTo>
                  <a:lnTo>
                    <a:pt x="92630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31">
              <a:extLst>
                <a:ext uri="{FF2B5EF4-FFF2-40B4-BE49-F238E27FC236}">
                  <a16:creationId xmlns:a16="http://schemas.microsoft.com/office/drawing/2014/main" id="{0E3207F4-D40C-44E6-8726-1386115F5870}"/>
                </a:ext>
              </a:extLst>
            </p:cNvPr>
            <p:cNvSpPr/>
            <p:nvPr/>
          </p:nvSpPr>
          <p:spPr>
            <a:xfrm>
              <a:off x="7712011" y="857250"/>
              <a:ext cx="2955798" cy="5138737"/>
            </a:xfrm>
            <a:custGeom>
              <a:avLst/>
              <a:gdLst>
                <a:gd name="connsiteX0" fmla="*/ 2032731 w 2955798"/>
                <a:gd name="connsiteY0" fmla="*/ 0 h 5138737"/>
                <a:gd name="connsiteX1" fmla="*/ 0 w 2955798"/>
                <a:gd name="connsiteY1" fmla="*/ 5138738 h 5138737"/>
                <a:gd name="connsiteX2" fmla="*/ 2955798 w 2955798"/>
                <a:gd name="connsiteY2" fmla="*/ 5138738 h 5138737"/>
                <a:gd name="connsiteX3" fmla="*/ 2955798 w 2955798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5798" h="5138737">
                  <a:moveTo>
                    <a:pt x="2032731" y="0"/>
                  </a:moveTo>
                  <a:lnTo>
                    <a:pt x="0" y="5138738"/>
                  </a:lnTo>
                  <a:lnTo>
                    <a:pt x="2955798" y="5138738"/>
                  </a:lnTo>
                  <a:lnTo>
                    <a:pt x="295579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C1735E-0205-42E3-A5CB-FC6DF991AC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8829" y="523748"/>
            <a:ext cx="10515600" cy="556795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92A77282-5267-4F71-A0BF-DF82ED909EC1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620451" y="152059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3EA4E6FE-F090-4542-81C0-C6D241E7468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91631" y="267305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E99767A9-AC54-4743-BBA3-FB9452700C7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291631" y="3148500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E8AE39FE-294D-4DF3-8C81-E1072C74809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119392" y="152059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1707D82F-527A-4E2B-A75C-1AAA60F6634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91533" y="267414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5BBF407E-9CF1-4FD6-B672-644EDFEDD63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791533" y="3149590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Picture Placeholder 9">
            <a:extLst>
              <a:ext uri="{FF2B5EF4-FFF2-40B4-BE49-F238E27FC236}">
                <a16:creationId xmlns:a16="http://schemas.microsoft.com/office/drawing/2014/main" id="{1A3ECF3D-730A-4424-B01D-D8F4C0DA949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549002" y="152059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4" name="Text Placeholder 17">
            <a:extLst>
              <a:ext uri="{FF2B5EF4-FFF2-40B4-BE49-F238E27FC236}">
                <a16:creationId xmlns:a16="http://schemas.microsoft.com/office/drawing/2014/main" id="{225B5D42-F20D-409F-8623-A64142EC2C4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23796" y="266787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D20F4DBB-A572-46A8-A5B4-3BA6B7FC2B4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23796" y="3143315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Picture Placeholder 9">
            <a:extLst>
              <a:ext uri="{FF2B5EF4-FFF2-40B4-BE49-F238E27FC236}">
                <a16:creationId xmlns:a16="http://schemas.microsoft.com/office/drawing/2014/main" id="{91595987-3A61-4A00-9863-883E32AD8340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9174860" y="152059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B38C024F-59AC-4BC0-9508-BEBF057E1A9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846039" y="266691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BDB9CAD8-A37F-40F0-9C11-F79C660A79D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846039" y="3142355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4CC2980B-7671-4F8C-BADD-CF2C88294E8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620451" y="3853061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962E00C-0CE9-4ED2-8C51-91478F7776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91631" y="500552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285E7C77-6013-467F-AA0B-DB65984B25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1631" y="5480965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7D6F633A-FD80-4D2C-8476-8100D39C6B64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119392" y="3853061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534B036E-ECDB-4305-8A01-66F6D547169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91533" y="500661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F074C60B-FADB-4F44-B718-C0687D1D436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91533" y="5482055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A34BA53B-3CF1-462B-979A-000E74575C1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549002" y="3853061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B1AAC15F-0501-4CB6-BA46-F9C01D493E9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323796" y="500033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2C0B84A3-071D-46B3-B912-276ED1F152E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23796" y="5475780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447CE363-8048-45D8-BC95-4E89354EF49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174860" y="3853061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EEB77DBC-08C4-4B28-9828-33089140761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846039" y="499937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C4D2FA18-AB3C-482C-AA57-12C2463265A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46039" y="5474820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FF793-7D5A-4D82-9EB0-6D4ED7DE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EE964-1EA4-4134-AB68-1D151221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F8D0-8415-4A9D-B4F5-92650ECA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11278095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for Product Launch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raphic 43">
            <a:extLst>
              <a:ext uri="{FF2B5EF4-FFF2-40B4-BE49-F238E27FC236}">
                <a16:creationId xmlns:a16="http://schemas.microsoft.com/office/drawing/2014/main" id="{D76CD6FD-D22D-437F-BDAE-7B3ECB0EF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9937" y="0"/>
            <a:ext cx="7462063" cy="6858000"/>
          </a:xfrm>
          <a:custGeom>
            <a:avLst/>
            <a:gdLst>
              <a:gd name="connsiteX0" fmla="*/ 2766060 w 5591365"/>
              <a:gd name="connsiteY0" fmla="*/ 1566101 h 5138737"/>
              <a:gd name="connsiteX1" fmla="*/ 658749 w 5591365"/>
              <a:gd name="connsiteY1" fmla="*/ 2875979 h 5138737"/>
              <a:gd name="connsiteX2" fmla="*/ 0 w 5591365"/>
              <a:gd name="connsiteY2" fmla="*/ 4702016 h 5138737"/>
              <a:gd name="connsiteX3" fmla="*/ 26670 w 5591365"/>
              <a:gd name="connsiteY3" fmla="*/ 5138738 h 5138737"/>
              <a:gd name="connsiteX4" fmla="*/ 2675763 w 5591365"/>
              <a:gd name="connsiteY4" fmla="*/ 5138738 h 5138737"/>
              <a:gd name="connsiteX5" fmla="*/ 2481072 w 5591365"/>
              <a:gd name="connsiteY5" fmla="*/ 4439984 h 5138737"/>
              <a:gd name="connsiteX6" fmla="*/ 2804636 w 5591365"/>
              <a:gd name="connsiteY6" fmla="*/ 3584734 h 5138737"/>
              <a:gd name="connsiteX7" fmla="*/ 3798570 w 5591365"/>
              <a:gd name="connsiteY7" fmla="*/ 2814257 h 5138737"/>
              <a:gd name="connsiteX8" fmla="*/ 5378101 w 5591365"/>
              <a:gd name="connsiteY8" fmla="*/ 4717352 h 5138737"/>
              <a:gd name="connsiteX9" fmla="*/ 4949381 w 5591365"/>
              <a:gd name="connsiteY9" fmla="*/ 5138642 h 5138737"/>
              <a:gd name="connsiteX10" fmla="*/ 5591366 w 5591365"/>
              <a:gd name="connsiteY10" fmla="*/ 5138642 h 5138737"/>
              <a:gd name="connsiteX11" fmla="*/ 5591366 w 5591365"/>
              <a:gd name="connsiteY11" fmla="*/ 0 h 5138737"/>
              <a:gd name="connsiteX12" fmla="*/ 5397056 w 5591365"/>
              <a:gd name="connsiteY12" fmla="*/ 0 h 5138737"/>
              <a:gd name="connsiteX13" fmla="*/ 4684681 w 5591365"/>
              <a:gd name="connsiteY13" fmla="*/ 595217 h 5138737"/>
              <a:gd name="connsiteX14" fmla="*/ 4254627 w 5591365"/>
              <a:gd name="connsiteY14" fmla="*/ 0 h 5138737"/>
              <a:gd name="connsiteX15" fmla="*/ 1910620 w 5591365"/>
              <a:gd name="connsiteY15" fmla="*/ 0 h 5138737"/>
              <a:gd name="connsiteX16" fmla="*/ 2018633 w 5591365"/>
              <a:gd name="connsiteY16" fmla="*/ 314039 h 5138737"/>
              <a:gd name="connsiteX17" fmla="*/ 2766060 w 5591365"/>
              <a:gd name="connsiteY17" fmla="*/ 1566101 h 513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91365" h="5138737">
                <a:moveTo>
                  <a:pt x="2766060" y="1566101"/>
                </a:moveTo>
                <a:cubicBezTo>
                  <a:pt x="1800416" y="1946243"/>
                  <a:pt x="1097947" y="2382869"/>
                  <a:pt x="658749" y="2875979"/>
                </a:cubicBezTo>
                <a:cubicBezTo>
                  <a:pt x="219551" y="3368993"/>
                  <a:pt x="0" y="3977735"/>
                  <a:pt x="0" y="4702016"/>
                </a:cubicBezTo>
                <a:cubicBezTo>
                  <a:pt x="0" y="4853178"/>
                  <a:pt x="9049" y="4998720"/>
                  <a:pt x="26670" y="5138738"/>
                </a:cubicBezTo>
                <a:lnTo>
                  <a:pt x="2675763" y="5138738"/>
                </a:lnTo>
                <a:cubicBezTo>
                  <a:pt x="2546033" y="4937951"/>
                  <a:pt x="2481072" y="4705065"/>
                  <a:pt x="2481072" y="4439984"/>
                </a:cubicBezTo>
                <a:cubicBezTo>
                  <a:pt x="2481072" y="4136898"/>
                  <a:pt x="2588990" y="3851815"/>
                  <a:pt x="2804636" y="3584734"/>
                </a:cubicBezTo>
                <a:cubicBezTo>
                  <a:pt x="3020378" y="3317653"/>
                  <a:pt x="3351657" y="3060764"/>
                  <a:pt x="3798570" y="2814257"/>
                </a:cubicBezTo>
                <a:lnTo>
                  <a:pt x="5378101" y="4717352"/>
                </a:lnTo>
                <a:cubicBezTo>
                  <a:pt x="5225510" y="4879181"/>
                  <a:pt x="5082635" y="5019580"/>
                  <a:pt x="4949381" y="5138642"/>
                </a:cubicBezTo>
                <a:lnTo>
                  <a:pt x="5591366" y="5138642"/>
                </a:lnTo>
                <a:lnTo>
                  <a:pt x="5591366" y="0"/>
                </a:lnTo>
                <a:lnTo>
                  <a:pt x="5397056" y="0"/>
                </a:lnTo>
                <a:cubicBezTo>
                  <a:pt x="5226368" y="200978"/>
                  <a:pt x="4988910" y="399383"/>
                  <a:pt x="4684681" y="595217"/>
                </a:cubicBezTo>
                <a:cubicBezTo>
                  <a:pt x="4507230" y="377000"/>
                  <a:pt x="4364070" y="178689"/>
                  <a:pt x="4254627" y="0"/>
                </a:cubicBezTo>
                <a:lnTo>
                  <a:pt x="1910620" y="0"/>
                </a:lnTo>
                <a:cubicBezTo>
                  <a:pt x="1941005" y="105728"/>
                  <a:pt x="1976914" y="210407"/>
                  <a:pt x="2018633" y="314039"/>
                </a:cubicBezTo>
                <a:cubicBezTo>
                  <a:pt x="2172748" y="696754"/>
                  <a:pt x="2421922" y="1114044"/>
                  <a:pt x="2766060" y="156610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8A071-1D5B-4870-BDE1-3D7860940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982" y="1584731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C4D3E7-34AF-4BBC-820B-B9D5B5582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982" y="3058235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35B180-197F-4655-9DF9-6F97871FD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982" y="4531739"/>
            <a:ext cx="1435618" cy="12395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E411CF-DDD5-47E6-AE48-6E78CED74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8164" y="1584731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1CE1B6-B343-4CB0-8870-8F3029C9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8164" y="3058235"/>
            <a:ext cx="1435618" cy="12395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DF789-75CD-4A82-A55E-B3FA178A9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531" y="521208"/>
            <a:ext cx="10302551" cy="535197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148E7C4-0020-4D4D-98B4-CF74932ABA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1983" y="1584731"/>
            <a:ext cx="1435618" cy="12395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661FBF8-345F-44C0-8E07-2ADA2912EB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8239" y="1530267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443AAEC-2D13-4AEA-B6F3-64CD19F537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8031" y="1798653"/>
            <a:ext cx="3365018" cy="1025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645377D-2B37-46EC-85C8-CA0175FE7C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98439" y="1584731"/>
            <a:ext cx="1435618" cy="12395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2BEF198A-8B55-4495-8E2C-7353D5ECB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2399" y="1530267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C1789F23-CF61-46B6-8E1F-7AB61D2742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22191" y="1798653"/>
            <a:ext cx="3365018" cy="1025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F3E1A50-0136-4F59-B77E-5F459F00AF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1982" y="3058235"/>
            <a:ext cx="1435618" cy="12395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D867EC1-9F32-4507-9D3D-FD5C7065FB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8798" y="3025216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273B4FE0-4DD8-43E5-A806-A3B5C60656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8590" y="3293602"/>
            <a:ext cx="3365018" cy="10031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9B6558B-2AB2-4BB0-B77C-1E54894F06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8438" y="3058235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AF68C32-9E9C-41F0-9ACB-81A5B8E061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12958" y="3025216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B4555F9F-B048-4A3C-B1BD-6092008CEC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12750" y="3293602"/>
            <a:ext cx="3365018" cy="10031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587FCAF-B449-43EB-AE84-1BF56D4ADA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982" y="4531739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C2A235B5-899D-4620-B89E-715B10591A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63951" y="4494630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7EA8C6DF-B88C-428A-90D8-86C317465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63743" y="4763016"/>
            <a:ext cx="3365018" cy="10031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0C1B-BDF6-473C-82EC-3298F22A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F3231-43C6-49F7-B336-0E3A56D6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B9FC-FE60-4D5B-A7C5-BE8486B6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3008863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E419E45-DB97-4DFC-BDE1-B4AD51B0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1503644"/>
            <a:ext cx="12192001" cy="536486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81C62C9-FFA2-4AEE-8FC3-A4DAEFE274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562" y="514418"/>
            <a:ext cx="10515600" cy="501852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AA5994-F868-4A06-B33A-66C8B51E9E5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495425"/>
            <a:ext cx="10515600" cy="464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7C33-5A7A-4AED-9A52-3C23B79C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DD258-4C4D-43B4-8A76-71FB3C4F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DB112-1E48-4647-82C7-DB5A1769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45974452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s of Focu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11">
            <a:extLst>
              <a:ext uri="{FF2B5EF4-FFF2-40B4-BE49-F238E27FC236}">
                <a16:creationId xmlns:a16="http://schemas.microsoft.com/office/drawing/2014/main" id="{EC3DDEF0-31D2-4F9A-BC90-624839FC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73204" y="0"/>
            <a:ext cx="7641807" cy="6858000"/>
          </a:xfrm>
          <a:custGeom>
            <a:avLst/>
            <a:gdLst>
              <a:gd name="connsiteX0" fmla="*/ 1545336 w 5726048"/>
              <a:gd name="connsiteY0" fmla="*/ 0 h 5138737"/>
              <a:gd name="connsiteX1" fmla="*/ 0 w 5726048"/>
              <a:gd name="connsiteY1" fmla="*/ 5138738 h 5138737"/>
              <a:gd name="connsiteX2" fmla="*/ 1837754 w 5726048"/>
              <a:gd name="connsiteY2" fmla="*/ 5138738 h 5138737"/>
              <a:gd name="connsiteX3" fmla="*/ 2697385 w 5726048"/>
              <a:gd name="connsiteY3" fmla="*/ 1510760 h 5138737"/>
              <a:gd name="connsiteX4" fmla="*/ 3593211 w 5726048"/>
              <a:gd name="connsiteY4" fmla="*/ 5138738 h 5138737"/>
              <a:gd name="connsiteX5" fmla="*/ 5726049 w 5726048"/>
              <a:gd name="connsiteY5" fmla="*/ 5138738 h 5138737"/>
              <a:gd name="connsiteX6" fmla="*/ 4256056 w 5726048"/>
              <a:gd name="connsiteY6" fmla="*/ 0 h 513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6048" h="5138737">
                <a:moveTo>
                  <a:pt x="1545336" y="0"/>
                </a:moveTo>
                <a:lnTo>
                  <a:pt x="0" y="5138738"/>
                </a:lnTo>
                <a:lnTo>
                  <a:pt x="1837754" y="5138738"/>
                </a:lnTo>
                <a:lnTo>
                  <a:pt x="2697385" y="1510760"/>
                </a:lnTo>
                <a:lnTo>
                  <a:pt x="3593211" y="5138738"/>
                </a:lnTo>
                <a:lnTo>
                  <a:pt x="5726049" y="5138738"/>
                </a:lnTo>
                <a:lnTo>
                  <a:pt x="4256056" y="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52DBD-FCE3-4200-8796-599AD76DB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62" y="894716"/>
            <a:ext cx="10515600" cy="495300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275A5D8-FFDD-4BA1-A19F-78CC721D9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0915" y="2215197"/>
            <a:ext cx="4376935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0916AEE1-7FDC-405E-B7F8-C3A7FEBD07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0707" y="2637562"/>
            <a:ext cx="4376489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244466E-4E38-43BC-A275-2E83B59875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3464" y="2215196"/>
            <a:ext cx="4376935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BDF3609D-E7F8-453C-B1CF-2E48118DE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3945" y="2637561"/>
            <a:ext cx="4376490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8B6E9-9794-42AA-BDE2-2F9DF183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9A997-FE21-4068-BD9C-7510BF6E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42B91-07C6-4985-8E15-8D98F1A5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853136085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 We Get The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1">
            <a:extLst>
              <a:ext uri="{FF2B5EF4-FFF2-40B4-BE49-F238E27FC236}">
                <a16:creationId xmlns:a16="http://schemas.microsoft.com/office/drawing/2014/main" id="{F35C7915-2A65-44A0-8407-F3A9430EA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3204" y="0"/>
            <a:ext cx="7641807" cy="6858000"/>
          </a:xfrm>
          <a:custGeom>
            <a:avLst/>
            <a:gdLst>
              <a:gd name="connsiteX0" fmla="*/ 1545336 w 5726048"/>
              <a:gd name="connsiteY0" fmla="*/ 0 h 5138737"/>
              <a:gd name="connsiteX1" fmla="*/ 0 w 5726048"/>
              <a:gd name="connsiteY1" fmla="*/ 5138738 h 5138737"/>
              <a:gd name="connsiteX2" fmla="*/ 1837754 w 5726048"/>
              <a:gd name="connsiteY2" fmla="*/ 5138738 h 5138737"/>
              <a:gd name="connsiteX3" fmla="*/ 2697385 w 5726048"/>
              <a:gd name="connsiteY3" fmla="*/ 1510760 h 5138737"/>
              <a:gd name="connsiteX4" fmla="*/ 3593211 w 5726048"/>
              <a:gd name="connsiteY4" fmla="*/ 5138738 h 5138737"/>
              <a:gd name="connsiteX5" fmla="*/ 5726049 w 5726048"/>
              <a:gd name="connsiteY5" fmla="*/ 5138738 h 5138737"/>
              <a:gd name="connsiteX6" fmla="*/ 4256056 w 5726048"/>
              <a:gd name="connsiteY6" fmla="*/ 0 h 513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6048" h="5138737">
                <a:moveTo>
                  <a:pt x="1545336" y="0"/>
                </a:moveTo>
                <a:lnTo>
                  <a:pt x="0" y="5138738"/>
                </a:lnTo>
                <a:lnTo>
                  <a:pt x="1837754" y="5138738"/>
                </a:lnTo>
                <a:lnTo>
                  <a:pt x="2697385" y="1510760"/>
                </a:lnTo>
                <a:lnTo>
                  <a:pt x="3593211" y="5138738"/>
                </a:lnTo>
                <a:lnTo>
                  <a:pt x="5726049" y="5138738"/>
                </a:lnTo>
                <a:lnTo>
                  <a:pt x="4256056" y="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257D4-C810-4CFA-8B86-45EE05E1BC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8869" y="893674"/>
            <a:ext cx="10515600" cy="495300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3C10DEF-E8ED-436F-B228-86D73E3D45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5100" y="2216238"/>
            <a:ext cx="3604193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4CD509E6-3210-4BEC-B28E-BFF3CBD218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93" y="2638603"/>
            <a:ext cx="360382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D55AF8-203B-4573-910D-40DAA7E391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6540" y="2216238"/>
            <a:ext cx="3604193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AD2DFF4B-F817-4BFC-B12F-1E0457EF07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6333" y="2638603"/>
            <a:ext cx="360382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8EFF5B-8675-4033-9576-3B84EED6C6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7980" y="2216238"/>
            <a:ext cx="3387610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B47FAE44-E9F0-4F90-9E79-AFB6CE26F4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772" y="2638603"/>
            <a:ext cx="3387265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B9BDF-11CB-4EA0-B2E4-1CD82B6E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40558-56C3-4F42-A159-12BF8872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91AB6-67A9-4FEE-98C9-495A1CCB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24570357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5036E8E-72DC-4FB2-BC8F-CA1AD2F3B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0" y="0"/>
            <a:ext cx="6095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5E96FC-B47B-4DA1-9369-B765A705FA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2287" y="2068863"/>
            <a:ext cx="4594823" cy="557552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800B990-833E-4C0D-A433-B21CF9A79B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287" y="2626414"/>
            <a:ext cx="4259684" cy="285999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sz="16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7627E8A-9EB4-41E2-8847-B5BDD7FC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2D8A98-3508-4B88-A239-BBFF76D51F4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6C103218-0175-45B7-900A-DF77A2CC6B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3429000"/>
            <a:ext cx="6096000" cy="342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1478D8-A909-4307-9777-531032CF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8" y="6356350"/>
            <a:ext cx="3249170" cy="501649"/>
          </a:xfrm>
          <a:solidFill>
            <a:schemeClr val="accent1">
              <a:lumMod val="50000"/>
              <a:alpha val="9000"/>
            </a:schemeClr>
          </a:solidFill>
        </p:spPr>
        <p:txBody>
          <a:bodyPr lIns="365760" bIns="182880"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33DDC16-EF3C-4507-A82A-86B1B82C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5167" y="6356350"/>
            <a:ext cx="2846831" cy="501650"/>
          </a:xfrm>
          <a:solidFill>
            <a:schemeClr val="accent1">
              <a:lumMod val="50000"/>
              <a:alpha val="9000"/>
            </a:schemeClr>
          </a:solidFill>
        </p:spPr>
        <p:txBody>
          <a:bodyPr rIns="594360" bIns="18288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052999934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1E42000-EF35-469E-8324-0C7BD97E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FEB11-3B93-4C0A-A820-D5B092929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575851" cy="4210387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68680" bIns="182880" anchor="b"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CE695F7E-76BA-4A5F-9C71-C47DD1B5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210388"/>
            <a:ext cx="5575849" cy="2118216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22960" anchor="t"/>
          <a:lstStyle>
            <a:lvl1pPr marL="0" indent="0">
              <a:lnSpc>
                <a:spcPct val="125000"/>
              </a:lnSpc>
              <a:buNone/>
              <a:defRPr sz="16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6E471-F864-4D68-9682-2E010837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31226"/>
            <a:ext cx="3497063" cy="526774"/>
          </a:xfrm>
          <a:solidFill>
            <a:schemeClr val="accent1">
              <a:lumMod val="50000"/>
              <a:alpha val="9000"/>
            </a:schemeClr>
          </a:solidFill>
        </p:spPr>
        <p:txBody>
          <a:bodyPr lIns="850392" bIns="13716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2384D-15A3-4765-AA16-FD8F27E5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7062" y="6336472"/>
            <a:ext cx="5197878" cy="529397"/>
          </a:xfrm>
          <a:solidFill>
            <a:schemeClr val="accent1">
              <a:lumMod val="50000"/>
              <a:alpha val="9000"/>
            </a:schemeClr>
          </a:solidFill>
        </p:spPr>
        <p:txBody>
          <a:bodyPr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EB306-C51D-4724-AA0E-9EFA95D6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4940" y="6328604"/>
            <a:ext cx="3497060" cy="529396"/>
          </a:xfrm>
          <a:solidFill>
            <a:schemeClr val="accent1">
              <a:lumMod val="50000"/>
              <a:alpha val="9000"/>
            </a:schemeClr>
          </a:solidFill>
        </p:spPr>
        <p:txBody>
          <a:bodyPr rIns="585216"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8554652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2C545-ABF3-4111-9C70-0C513622F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5239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851B-24D4-40F7-88DA-C06AE1709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07E50-40B2-4772-B85C-0CC91BEBC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86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9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zeesolver/consumer-behavior-and-shopping-habits-dataset?select=shopping_behavior_updated.csv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awal-mayowa-160bb930b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erson playing trumpet">
            <a:extLst>
              <a:ext uri="{FF2B5EF4-FFF2-40B4-BE49-F238E27FC236}">
                <a16:creationId xmlns:a16="http://schemas.microsoft.com/office/drawing/2014/main" id="{82AD9B64-C3B2-4F92-B013-F9D95DDAC0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40701852-AE6C-4783-8DBD-B0CBAC16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1" y="0"/>
            <a:ext cx="7366000" cy="5391215"/>
          </a:xfrm>
        </p:spPr>
        <p:txBody>
          <a:bodyPr/>
          <a:lstStyle/>
          <a:p>
            <a:pPr algn="just"/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49F6AF1-A89E-415F-93B2-6E9E72D0DD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61467" y="5391215"/>
            <a:ext cx="7230533" cy="1466785"/>
          </a:xfrm>
        </p:spPr>
        <p:txBody>
          <a:bodyPr/>
          <a:lstStyle/>
          <a:p>
            <a:r>
              <a:rPr lang="en-GB" dirty="0"/>
              <a:t>Stage 0 | Lawal Mayowa Bryant</a:t>
            </a:r>
            <a:endParaRPr lang="en-US" dirty="0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3CD0F96C-C036-4A88-B85A-765408F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434138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224A1F6-21F4-4A67-8DDD-53AC739DF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5981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409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FFDFC4E2-C9DE-4F2E-A89C-715209C0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463" y="986268"/>
            <a:ext cx="2893813" cy="103438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6E7A249-5611-42FD-975D-23A8754CDE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41407" y="699461"/>
            <a:ext cx="6547507" cy="1552015"/>
          </a:xfrm>
        </p:spPr>
        <p:txBody>
          <a:bodyPr/>
          <a:lstStyle/>
          <a:p>
            <a:r>
              <a:rPr lang="en-GB" dirty="0"/>
              <a:t>This project analyses consumer shopping behaviour to uncover trends in purchases, discounts, product categories, and customer preferences using Excel.</a:t>
            </a:r>
            <a:endParaRPr lang="en-US" dirty="0"/>
          </a:p>
        </p:txBody>
      </p:sp>
      <p:pic>
        <p:nvPicPr>
          <p:cNvPr id="8" name="Picture Placeholder 7" descr="A black and white piano close up">
            <a:extLst>
              <a:ext uri="{FF2B5EF4-FFF2-40B4-BE49-F238E27FC236}">
                <a16:creationId xmlns:a16="http://schemas.microsoft.com/office/drawing/2014/main" id="{E9674C4A-15EC-49F9-9558-66BD79A9AFC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993571"/>
            <a:ext cx="12192000" cy="386442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93D79-8EC5-46CD-AA16-7851250E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0"/>
            <a:ext cx="3497062" cy="501650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F3A7C-6F25-4CD0-85C5-EE1A21BC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7062" y="6356350"/>
            <a:ext cx="5197878" cy="501650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DCB15-B29C-40F0-9B09-422989A4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4940" y="6356350"/>
            <a:ext cx="3497060" cy="501650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6FC2FA-E7D5-403B-BB1A-1AC8E2901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49705" y="1704416"/>
            <a:ext cx="12192000" cy="386443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FEC87FBB-9057-4D42-BFB8-C20E962AB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993570"/>
            <a:ext cx="12192000" cy="336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420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FF872A7D-E6CA-4BD5-B88B-0498D0B75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62" y="894716"/>
            <a:ext cx="10515600" cy="495300"/>
          </a:xfrm>
        </p:spPr>
        <p:txBody>
          <a:bodyPr/>
          <a:lstStyle/>
          <a:p>
            <a:r>
              <a:rPr lang="en-GB" dirty="0"/>
              <a:t>Dataset Overview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6112D0-BBBB-4761-B916-CEA43C08D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86953" y="1771893"/>
            <a:ext cx="6037729" cy="331421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FFFF"/>
                </a:solidFill>
                <a:latin typeface="Segoe UI Variable Text" pitchFamily="2" charset="0"/>
              </a:rPr>
              <a:t>Dataset Name:</a:t>
            </a:r>
            <a:r>
              <a:rPr lang="en-GB" dirty="0">
                <a:solidFill>
                  <a:srgbClr val="FFFFFF"/>
                </a:solidFill>
                <a:latin typeface="Segoe UI Variable Text" pitchFamily="2" charset="0"/>
              </a:rPr>
              <a:t> Consumer Shopping Behaviour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FFFF"/>
                </a:solidFill>
                <a:latin typeface="Segoe UI Variable Text" pitchFamily="2" charset="0"/>
              </a:rPr>
              <a:t>Source:</a:t>
            </a:r>
            <a:r>
              <a:rPr lang="en-GB" dirty="0">
                <a:solidFill>
                  <a:srgbClr val="FFFFFF"/>
                </a:solidFill>
                <a:latin typeface="Segoe UI Variable Text" pitchFamily="2" charset="0"/>
              </a:rPr>
              <a:t> </a:t>
            </a:r>
            <a:r>
              <a:rPr lang="en-GB" dirty="0">
                <a:solidFill>
                  <a:srgbClr val="FFFFFF"/>
                </a:solidFill>
                <a:latin typeface="Segoe UI Variable Text" pitchFamily="2" charset="0"/>
                <a:hlinkClick r:id="rId2"/>
              </a:rPr>
              <a:t>Kaggle Link</a:t>
            </a:r>
            <a:endParaRPr lang="en-GB" dirty="0">
              <a:solidFill>
                <a:srgbClr val="FFFFFF"/>
              </a:solidFill>
              <a:latin typeface="Segoe UI Variable Text" pitchFamily="2" charset="0"/>
            </a:endParaRPr>
          </a:p>
          <a:p>
            <a:r>
              <a:rPr lang="en-US" dirty="0"/>
              <a:t>(</a:t>
            </a:r>
            <a:r>
              <a:rPr lang="en-NG" dirty="0"/>
              <a:t>https://www.kaggle.com/datasets/zeesolver/consumer-behavior-and-shopping-habits-dataset?select=shopping_behavior_updated.csv</a:t>
            </a:r>
            <a:r>
              <a:rPr lang="en-US" dirty="0"/>
              <a:t>)</a:t>
            </a:r>
            <a:endParaRPr lang="en-GB" dirty="0">
              <a:solidFill>
                <a:srgbClr val="FFFFFF"/>
              </a:solidFill>
              <a:latin typeface="Segoe UI Variable Tex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FFFF"/>
                </a:solidFill>
                <a:latin typeface="Segoe UI Variable Text" pitchFamily="2" charset="0"/>
              </a:rPr>
              <a:t>Rows / Columns:</a:t>
            </a:r>
            <a:r>
              <a:rPr lang="en-GB" dirty="0">
                <a:solidFill>
                  <a:srgbClr val="FFFFFF"/>
                </a:solidFill>
                <a:latin typeface="Segoe UI Variable Text" pitchFamily="2" charset="0"/>
              </a:rPr>
              <a:t> 3,901 rows × 20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FFFF"/>
                </a:solidFill>
                <a:latin typeface="Segoe UI Variable Text" pitchFamily="2" charset="0"/>
              </a:rPr>
              <a:t>Key Features:</a:t>
            </a:r>
            <a:r>
              <a:rPr lang="en-GB" dirty="0">
                <a:solidFill>
                  <a:srgbClr val="FFFFFF"/>
                </a:solidFill>
                <a:latin typeface="Segoe UI Variable Text" pitchFamily="2" charset="0"/>
              </a:rPr>
              <a:t> Customer ID, Age, Gender, Item Purchased, Category, Purchase Amount, Discount Applied, Promo Code Used, Shipping Type, Subscription Status, etc.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85B73-7A1C-4790-86F0-401CF741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8AC66-7A3E-4F83-9C65-F437FD59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DE879D-70D2-44BA-84FA-A456D837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239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62633461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CDE244DC-8B9E-4E7D-B4FF-FDF35DD4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193" y="546310"/>
            <a:ext cx="7121174" cy="495301"/>
          </a:xfrm>
        </p:spPr>
        <p:txBody>
          <a:bodyPr/>
          <a:lstStyle/>
          <a:p>
            <a:r>
              <a:rPr lang="en-GB" dirty="0"/>
              <a:t>Research Questions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5D0B6-77C2-4F55-BD1D-6E4B255F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D61EE-1013-46B0-9F60-955DB3B3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pic>
        <p:nvPicPr>
          <p:cNvPr id="25" name="Picture Placeholder 24" descr="A close up of a piano keys">
            <a:extLst>
              <a:ext uri="{FF2B5EF4-FFF2-40B4-BE49-F238E27FC236}">
                <a16:creationId xmlns:a16="http://schemas.microsoft.com/office/drawing/2014/main" id="{0C86ED0F-C10D-48DF-A586-0050618B1C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3398" y="0"/>
            <a:ext cx="4038602" cy="6858000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18005-3523-456B-9332-E3794DB6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239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F4E802-6616-4662-937B-2F06B7104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3108" y="0"/>
            <a:ext cx="4038892" cy="635635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F12C045-4A25-9994-6AB3-139DC2145A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7725" y="1528474"/>
            <a:ext cx="7121174" cy="355451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How does the age group affect average purchase amount?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Do subscribed customers spend more than non-subscribers?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Which product category generates the highest total sales?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Do discounts or promo codes increase the purchase amount?</a:t>
            </a:r>
          </a:p>
        </p:txBody>
      </p:sp>
    </p:spTree>
    <p:extLst>
      <p:ext uri="{BB962C8B-B14F-4D97-AF65-F5344CB8AC3E}">
        <p14:creationId xmlns:p14="http://schemas.microsoft.com/office/powerpoint/2010/main" val="118145562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72959FDF-4737-4BEB-9D35-6DB8A671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2" y="522081"/>
            <a:ext cx="10515600" cy="495300"/>
          </a:xfrm>
        </p:spPr>
        <p:txBody>
          <a:bodyPr/>
          <a:lstStyle/>
          <a:p>
            <a:r>
              <a:rPr lang="en-GB" b="1" dirty="0"/>
              <a:t>Data Cleaning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6F397-7374-4541-A1A2-828BE4A7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70F18-DF9C-4E9C-ACBC-82DD0209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C026D-1A11-4842-8D7D-85A1B8F9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2390" y="6356350"/>
            <a:ext cx="2743200" cy="365125"/>
          </a:xfrm>
        </p:spPr>
        <p:txBody>
          <a:bodyPr/>
          <a:lstStyle/>
          <a:p>
            <a:r>
              <a:rPr lang="en-US" dirty="0"/>
              <a:t>25XX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AC7459-3822-4E7D-D8E4-A97DF014CF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6236" y="1842770"/>
            <a:ext cx="11513167" cy="2954313"/>
          </a:xfrm>
        </p:spPr>
        <p:txBody>
          <a:bodyPr/>
          <a:lstStyle/>
          <a:p>
            <a:r>
              <a:rPr lang="en-GB" b="1" dirty="0"/>
              <a:t>Steps Taken to Clean and Prepare the Data:</a:t>
            </a:r>
            <a:endParaRPr lang="en-GB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Checked for missing values using Excel’s COUNTBLANK formula and replaced blanks with appropriate values (e.g., “Unknown” or averages).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Identified and corrected inconsistent entries (e.g., “Yes” vs “yes”) using Find &amp; Replace.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Fixed spelling errors and standardized text formatting (capitalization, spacing).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Handled outliers by reviewing extreme purchase values and ensuring they were valid data points.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Added a new Age Group column to categorize customers for easier analysis.</a:t>
            </a:r>
          </a:p>
          <a:p>
            <a:endParaRPr lang="en-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972F1-2560-14FA-DB1F-FC0651BCA8DB}"/>
              </a:ext>
            </a:extLst>
          </p:cNvPr>
          <p:cNvSpPr txBox="1"/>
          <p:nvPr/>
        </p:nvSpPr>
        <p:spPr>
          <a:xfrm>
            <a:off x="416236" y="4630159"/>
            <a:ext cx="6535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Tools and Techniques Used: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Excel functions: COUNTBLANK, TRIM, PROPER, and IF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Find &amp; Replace</a:t>
            </a:r>
            <a:r>
              <a:rPr lang="en-GB" dirty="0"/>
              <a:t> for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PivotTables and Charts</a:t>
            </a:r>
            <a:r>
              <a:rPr lang="en-GB" dirty="0"/>
              <a:t> for analysis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936592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40">
            <a:extLst>
              <a:ext uri="{FF2B5EF4-FFF2-40B4-BE49-F238E27FC236}">
                <a16:creationId xmlns:a16="http://schemas.microsoft.com/office/drawing/2014/main" id="{E594E37C-93FC-43FF-B313-BE92A41B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21" y="393816"/>
            <a:ext cx="10515600" cy="556795"/>
          </a:xfrm>
        </p:spPr>
        <p:txBody>
          <a:bodyPr/>
          <a:lstStyle/>
          <a:p>
            <a:r>
              <a:rPr lang="en-GB" dirty="0"/>
              <a:t>Analysis – Part 1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4746-F07E-4747-9C12-138CEF64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09DA5-C783-47D3-AE72-F6C8F7B4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7F736-5D42-4B33-BCA6-2C2C02E4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2390" y="6356350"/>
            <a:ext cx="2743200" cy="365125"/>
          </a:xfrm>
        </p:spPr>
        <p:txBody>
          <a:bodyPr/>
          <a:lstStyle/>
          <a:p>
            <a:r>
              <a:rPr lang="en-US" dirty="0"/>
              <a:t>225X</a:t>
            </a:r>
          </a:p>
        </p:txBody>
      </p:sp>
      <p:graphicFrame>
        <p:nvGraphicFramePr>
          <p:cNvPr id="37" name="Picture Placeholder 36">
            <a:extLst>
              <a:ext uri="{FF2B5EF4-FFF2-40B4-BE49-F238E27FC236}">
                <a16:creationId xmlns:a16="http://schemas.microsoft.com/office/drawing/2014/main" id="{26D15874-E351-05FA-1AD3-E67550EB8D63}"/>
              </a:ext>
            </a:extLst>
          </p:cNvPr>
          <p:cNvGraphicFramePr>
            <a:graphicFrameLocks noGrp="1"/>
          </p:cNvGraphicFramePr>
          <p:nvPr>
            <p:ph type="pic" sz="quarter" idx="57"/>
            <p:extLst>
              <p:ext uri="{D42A27DB-BD31-4B8C-83A1-F6EECF244321}">
                <p14:modId xmlns:p14="http://schemas.microsoft.com/office/powerpoint/2010/main" val="2341835891"/>
              </p:ext>
            </p:extLst>
          </p:nvPr>
        </p:nvGraphicFramePr>
        <p:xfrm>
          <a:off x="318200" y="1071039"/>
          <a:ext cx="5329565" cy="2592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Subscribe or not ">
            <a:extLst>
              <a:ext uri="{FF2B5EF4-FFF2-40B4-BE49-F238E27FC236}">
                <a16:creationId xmlns:a16="http://schemas.microsoft.com/office/drawing/2014/main" id="{AAD716E8-B05A-AF67-4D59-9A477D0CCBA4}"/>
              </a:ext>
            </a:extLst>
          </p:cNvPr>
          <p:cNvGraphicFramePr>
            <a:graphicFrameLocks noGrp="1"/>
          </p:cNvGraphicFramePr>
          <p:nvPr>
            <p:ph type="pic" sz="quarter" idx="58"/>
            <p:extLst>
              <p:ext uri="{D42A27DB-BD31-4B8C-83A1-F6EECF244321}">
                <p14:modId xmlns:p14="http://schemas.microsoft.com/office/powerpoint/2010/main" val="1029154785"/>
              </p:ext>
            </p:extLst>
          </p:nvPr>
        </p:nvGraphicFramePr>
        <p:xfrm>
          <a:off x="318200" y="3971925"/>
          <a:ext cx="3971412" cy="238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Rectangle 2">
            <a:extLst>
              <a:ext uri="{FF2B5EF4-FFF2-40B4-BE49-F238E27FC236}">
                <a16:creationId xmlns:a16="http://schemas.microsoft.com/office/drawing/2014/main" id="{D48945B5-2292-EB96-FEF7-55813CC66511}"/>
              </a:ext>
            </a:extLst>
          </p:cNvPr>
          <p:cNvSpPr>
            <a:spLocks noGrp="1" noChangeArrowheads="1"/>
          </p:cNvSpPr>
          <p:nvPr>
            <p:ph type="body" sz="quarter" idx="55"/>
          </p:nvPr>
        </p:nvSpPr>
        <p:spPr bwMode="auto">
          <a:xfrm>
            <a:off x="6129505" y="1120676"/>
            <a:ext cx="564577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Purchase by Age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purchase amount is similar across all age groups (~$60), showing no single age group dominates spending.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 group has minimal impact on average purchase; other factors may influence spending more.</a:t>
            </a:r>
          </a:p>
        </p:txBody>
      </p:sp>
      <p:sp>
        <p:nvSpPr>
          <p:cNvPr id="69" name="Rectangle 2">
            <a:extLst>
              <a:ext uri="{FF2B5EF4-FFF2-40B4-BE49-F238E27FC236}">
                <a16:creationId xmlns:a16="http://schemas.microsoft.com/office/drawing/2014/main" id="{902F98F8-7D63-9EB6-4671-72073EE57EDF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9500142" y="8898314"/>
            <a:ext cx="26918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NG" sz="1800" cap="none" dirty="0" err="1">
                <a:solidFill>
                  <a:schemeClr val="tx1"/>
                </a:solidFill>
                <a:latin typeface="Arial" panose="020B0604020202020204" pitchFamily="34" charset="0"/>
              </a:rPr>
              <a:t>gdffdf</a:t>
            </a:r>
            <a:endParaRPr lang="en-NG" altLang="en-NG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" name="Rectangle 6">
            <a:extLst>
              <a:ext uri="{FF2B5EF4-FFF2-40B4-BE49-F238E27FC236}">
                <a16:creationId xmlns:a16="http://schemas.microsoft.com/office/drawing/2014/main" id="{2F44E8DA-B71F-24CF-0833-A04F04F09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413" y="3971925"/>
            <a:ext cx="581304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NG" altLang="en-N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Purchase: Subscribers vs Non-Subscribers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NG" altLang="en-N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Subscribers spend slightly less ($59) than non-subscribers ($60).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r>
              <a:rPr kumimoji="0" lang="en-NG" altLang="en-N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Subscription status does not significantly affect spending; marketing should consider other drivers.</a:t>
            </a:r>
          </a:p>
        </p:txBody>
      </p:sp>
    </p:spTree>
    <p:extLst>
      <p:ext uri="{BB962C8B-B14F-4D97-AF65-F5344CB8AC3E}">
        <p14:creationId xmlns:p14="http://schemas.microsoft.com/office/powerpoint/2010/main" val="360185435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15">
            <a:extLst>
              <a:ext uri="{FF2B5EF4-FFF2-40B4-BE49-F238E27FC236}">
                <a16:creationId xmlns:a16="http://schemas.microsoft.com/office/drawing/2014/main" id="{0E21B6C9-B13E-4630-B3E3-696DE284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862" y="524565"/>
            <a:ext cx="10941728" cy="576447"/>
          </a:xfrm>
        </p:spPr>
        <p:txBody>
          <a:bodyPr/>
          <a:lstStyle/>
          <a:p>
            <a:r>
              <a:rPr lang="en-GB" dirty="0"/>
              <a:t>Analysis – Part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1A0B0-91E4-4514-9893-7544A171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87CDB-BE9B-4F67-AE84-9A1328DF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2BFCF-7ABB-4CF9-89A3-B2F09746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2390" y="6356350"/>
            <a:ext cx="2743200" cy="365125"/>
          </a:xfrm>
        </p:spPr>
        <p:txBody>
          <a:bodyPr/>
          <a:lstStyle/>
          <a:p>
            <a:r>
              <a:rPr lang="en-US" dirty="0"/>
              <a:t>25XX</a:t>
            </a:r>
          </a:p>
        </p:txBody>
      </p:sp>
      <p:graphicFrame>
        <p:nvGraphicFramePr>
          <p:cNvPr id="26" name="Categories">
            <a:extLst>
              <a:ext uri="{FF2B5EF4-FFF2-40B4-BE49-F238E27FC236}">
                <a16:creationId xmlns:a16="http://schemas.microsoft.com/office/drawing/2014/main" id="{76D105F5-18F3-594D-DCB5-86C48DAAFE2E}"/>
              </a:ext>
            </a:extLst>
          </p:cNvPr>
          <p:cNvGraphicFramePr>
            <a:graphicFrameLocks noGrp="1"/>
          </p:cNvGraphicFramePr>
          <p:nvPr>
            <p:ph type="pic" sz="quarter" idx="23"/>
            <p:extLst>
              <p:ext uri="{D42A27DB-BD31-4B8C-83A1-F6EECF244321}">
                <p14:modId xmlns:p14="http://schemas.microsoft.com/office/powerpoint/2010/main" val="2601578000"/>
              </p:ext>
            </p:extLst>
          </p:nvPr>
        </p:nvGraphicFramePr>
        <p:xfrm>
          <a:off x="368295" y="1101012"/>
          <a:ext cx="5151830" cy="2781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Picture Placeholder 26">
            <a:extLst>
              <a:ext uri="{FF2B5EF4-FFF2-40B4-BE49-F238E27FC236}">
                <a16:creationId xmlns:a16="http://schemas.microsoft.com/office/drawing/2014/main" id="{376463FC-59D7-639A-5E56-775DC83F56E8}"/>
              </a:ext>
            </a:extLst>
          </p:cNvPr>
          <p:cNvGraphicFramePr>
            <a:graphicFrameLocks noGrp="1"/>
          </p:cNvGraphicFramePr>
          <p:nvPr>
            <p:ph type="pic" sz="quarter" idx="26"/>
            <p:extLst>
              <p:ext uri="{D42A27DB-BD31-4B8C-83A1-F6EECF244321}">
                <p14:modId xmlns:p14="http://schemas.microsoft.com/office/powerpoint/2010/main" val="2872534240"/>
              </p:ext>
            </p:extLst>
          </p:nvPr>
        </p:nvGraphicFramePr>
        <p:xfrm>
          <a:off x="5688123" y="1101011"/>
          <a:ext cx="6135581" cy="2781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ectangle 1">
            <a:extLst>
              <a:ext uri="{FF2B5EF4-FFF2-40B4-BE49-F238E27FC236}">
                <a16:creationId xmlns:a16="http://schemas.microsoft.com/office/drawing/2014/main" id="{763C0374-202C-C6F5-CC09-EEC589836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296" y="3903798"/>
            <a:ext cx="515183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Sales by Product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Clothing generates the highest total sales ($104,264), followed by Accessories. Footwear and Outerwear contribute much less.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 marketing and inventory efforts on Clothing and Accessories to maximize revenue.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846E2E58-5AB4-91F4-F699-CE2143692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123" y="4255519"/>
            <a:ext cx="613558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Impact of Discounts &amp; Promo Codes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Customers with discounts or promo codes spend slightly more ($59–$61), indicating promotions encourage purchases.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Promotional strategies have a small but positive effect on spending; consider targeted discounts.</a:t>
            </a:r>
          </a:p>
        </p:txBody>
      </p:sp>
    </p:spTree>
    <p:extLst>
      <p:ext uri="{BB962C8B-B14F-4D97-AF65-F5344CB8AC3E}">
        <p14:creationId xmlns:p14="http://schemas.microsoft.com/office/powerpoint/2010/main" val="13566573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C3EC-D5C0-B54A-5CD0-1D3B062C1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11D22DAC-C3F9-8462-EBA2-7DCB7D05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62" y="894716"/>
            <a:ext cx="10515600" cy="495300"/>
          </a:xfrm>
        </p:spPr>
        <p:txBody>
          <a:bodyPr/>
          <a:lstStyle/>
          <a:p>
            <a:r>
              <a:rPr lang="en-GB" dirty="0"/>
              <a:t>Limitations &amp; Future Work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F32762-1D60-E3B6-C693-B2359C1A3F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4261" y="1771893"/>
            <a:ext cx="9968459" cy="4329104"/>
          </a:xfrm>
        </p:spPr>
        <p:txBody>
          <a:bodyPr/>
          <a:lstStyle/>
          <a:p>
            <a:r>
              <a:rPr lang="en-GB" sz="1800" b="1" dirty="0"/>
              <a:t>Limitations</a:t>
            </a:r>
            <a:endParaRPr lang="en-GB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The dataset is </a:t>
            </a:r>
            <a:r>
              <a:rPr lang="en-GB" b="1" dirty="0"/>
              <a:t>relatively small</a:t>
            </a:r>
            <a:r>
              <a:rPr lang="en-GB" dirty="0"/>
              <a:t>, so the insights may not fully represent all shopping behaviours.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The dataset </a:t>
            </a:r>
            <a:r>
              <a:rPr lang="en-GB" b="1" dirty="0"/>
              <a:t>doesn’t specify a timeline</a:t>
            </a:r>
            <a:r>
              <a:rPr lang="en-GB" dirty="0"/>
              <a:t>, preventing analysis of trends or seasonal patterns.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Some records are </a:t>
            </a:r>
            <a:r>
              <a:rPr lang="en-GB" b="1" dirty="0"/>
              <a:t>incomplete or unevenly distributed</a:t>
            </a:r>
            <a:r>
              <a:rPr lang="en-GB" dirty="0"/>
              <a:t>, possibly biasing results for certain age groups or locations.</a:t>
            </a:r>
          </a:p>
          <a:p>
            <a:r>
              <a:rPr lang="en-GB" sz="1800" b="1" dirty="0"/>
              <a:t>Future Work</a:t>
            </a:r>
            <a:endParaRPr lang="en-GB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Collect more data</a:t>
            </a:r>
            <a:r>
              <a:rPr lang="en-GB" dirty="0"/>
              <a:t> across multiple time periods to capture seasonal and yearly trends.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Integrate additional variables</a:t>
            </a:r>
            <a:r>
              <a:rPr lang="en-GB" dirty="0"/>
              <a:t> such as income level or marketing spend to deepen analysis.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Use visualization tools</a:t>
            </a:r>
            <a:r>
              <a:rPr lang="en-GB" dirty="0"/>
              <a:t> like Power BI or Tableau for more dynamic dashboards.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Explore </a:t>
            </a:r>
            <a:r>
              <a:rPr lang="en-GB" b="1" dirty="0"/>
              <a:t>predictive analytics</a:t>
            </a:r>
            <a:r>
              <a:rPr lang="en-GB" dirty="0"/>
              <a:t> later to forecast customer behaviour or sales trends.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1ED17-650F-C200-7CFB-E713164A0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B9216-5D0B-5923-1444-1D790C47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97D768-3DA4-1A6B-3FA6-27565FD4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239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54188552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close-up of a set of xylophone">
            <a:extLst>
              <a:ext uri="{FF2B5EF4-FFF2-40B4-BE49-F238E27FC236}">
                <a16:creationId xmlns:a16="http://schemas.microsoft.com/office/drawing/2014/main" id="{8F9D2BDD-1685-481F-B253-8421541A56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2" name="Title 31">
            <a:extLst>
              <a:ext uri="{FF2B5EF4-FFF2-40B4-BE49-F238E27FC236}">
                <a16:creationId xmlns:a16="http://schemas.microsoft.com/office/drawing/2014/main" id="{8D996758-284E-4C63-9A4B-2C107FDFE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75851" cy="421038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206A59-E2C8-4E81-AE9D-B2F7ADEEAB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4210388"/>
            <a:ext cx="5575849" cy="2118216"/>
          </a:xfrm>
        </p:spPr>
        <p:txBody>
          <a:bodyPr/>
          <a:lstStyle/>
          <a:p>
            <a:r>
              <a:rPr lang="en-US" dirty="0"/>
              <a:t>Lawal Mayowa Bryant</a:t>
            </a:r>
          </a:p>
          <a:p>
            <a:r>
              <a:rPr lang="en-US" dirty="0"/>
              <a:t>LawalMayowa95@Gmail.com</a:t>
            </a:r>
          </a:p>
          <a:p>
            <a:r>
              <a:rPr lang="en-GB" dirty="0"/>
              <a:t>Lawal Mayowa |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BE851-241B-47F9-98FE-19965576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31226"/>
            <a:ext cx="3497063" cy="526774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CF198-93B6-4140-8171-3CD9176A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7062" y="6336472"/>
            <a:ext cx="5197878" cy="529397"/>
          </a:xfrm>
        </p:spPr>
        <p:txBody>
          <a:bodyPr/>
          <a:lstStyle/>
          <a:p>
            <a:r>
              <a:rPr lang="en-GB" dirty="0"/>
              <a:t>Consumer Shopping Behaviour Analysis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322751-6649-4C31-8A1A-3B1A1E73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4940" y="6328604"/>
            <a:ext cx="3497060" cy="529396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90C92756-0BB5-41BC-A43D-39DE7F346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5850" y="1"/>
            <a:ext cx="6616149" cy="633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4537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Custom 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55973"/>
      </a:accent1>
      <a:accent2>
        <a:srgbClr val="8189A2"/>
      </a:accent2>
      <a:accent3>
        <a:srgbClr val="BB9569"/>
      </a:accent3>
      <a:accent4>
        <a:srgbClr val="A25526"/>
      </a:accent4>
      <a:accent5>
        <a:srgbClr val="EEECE0"/>
      </a:accent5>
      <a:accent6>
        <a:srgbClr val="592A0E"/>
      </a:accent6>
      <a:hlink>
        <a:srgbClr val="0563C1"/>
      </a:hlink>
      <a:folHlink>
        <a:srgbClr val="954F72"/>
      </a:folHlink>
    </a:clrScheme>
    <a:fontScheme name="Custom 27">
      <a:majorFont>
        <a:latin typeface="Franklin Gothic Demi Cond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 Presentation_TM16411254_Win32_JC_SL_v3.potx" id="{A49F532D-B704-4DFF-BADB-F4289203C174}" vid="{D1827142-D2F0-440A-808F-EAD0984C5F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F98B39-7EBA-4823-84A5-26F4787998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6AFC83-AE02-40B8-BC2C-6B2B88106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621FE4-3184-49E6-95AD-A045530002EF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Modern presentation</Template>
  <TotalTime>75</TotalTime>
  <Words>686</Words>
  <Application>Microsoft Office PowerPoint</Application>
  <PresentationFormat>Widescreen</PresentationFormat>
  <Paragraphs>93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Franklin Gothic Demi Cond</vt:lpstr>
      <vt:lpstr>Segoe UI Light</vt:lpstr>
      <vt:lpstr>Segoe UI Variable Text</vt:lpstr>
      <vt:lpstr>Wingdings</vt:lpstr>
      <vt:lpstr>Office Theme</vt:lpstr>
      <vt:lpstr>Consumer Shopping Behaviour Analysis</vt:lpstr>
      <vt:lpstr>Introduction</vt:lpstr>
      <vt:lpstr>Dataset Overview</vt:lpstr>
      <vt:lpstr>Research Questions</vt:lpstr>
      <vt:lpstr>Data Cleaning Summary</vt:lpstr>
      <vt:lpstr>Analysis – Part 1 </vt:lpstr>
      <vt:lpstr>Analysis – Part 2</vt:lpstr>
      <vt:lpstr>Limitations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lawalmayowa95@gmail.com</dc:creator>
  <cp:lastModifiedBy>lawalmayowa95@gmail.com</cp:lastModifiedBy>
  <cp:revision>1</cp:revision>
  <dcterms:created xsi:type="dcterms:W3CDTF">2025-10-17T17:36:27Z</dcterms:created>
  <dcterms:modified xsi:type="dcterms:W3CDTF">2025-10-17T18:51:38Z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